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2" r:id="rId2"/>
    <p:sldId id="257" r:id="rId3"/>
    <p:sldId id="274" r:id="rId4"/>
    <p:sldId id="275" r:id="rId5"/>
    <p:sldId id="276" r:id="rId6"/>
    <p:sldId id="277" r:id="rId7"/>
    <p:sldId id="279" r:id="rId8"/>
    <p:sldId id="278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065"/>
    <a:srgbClr val="446DF6"/>
    <a:srgbClr val="DBAD6A"/>
    <a:srgbClr val="24CABF"/>
    <a:srgbClr val="4C212A"/>
    <a:srgbClr val="02C0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84" autoAdjust="0"/>
  </p:normalViewPr>
  <p:slideViewPr>
    <p:cSldViewPr snapToGrid="0">
      <p:cViewPr varScale="1">
        <p:scale>
          <a:sx n="100" d="100"/>
          <a:sy n="100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B37A7-F95A-4C06-98EF-48B86210CCC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34310-F2B1-4D7E-B9BB-08870B0624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1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34310-F2B1-4D7E-B9BB-08870B0624F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91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9/20/2026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slide" Target="slide5.xml"/><Relationship Id="rId18" Type="http://schemas.openxmlformats.org/officeDocument/2006/relationships/image" Target="../media/image8.png"/><Relationship Id="rId3" Type="http://schemas.openxmlformats.org/officeDocument/2006/relationships/image" Target="../media/image3.png"/><Relationship Id="rId21" Type="http://schemas.openxmlformats.org/officeDocument/2006/relationships/image" Target="../media/image9.png"/><Relationship Id="rId7" Type="http://schemas.openxmlformats.org/officeDocument/2006/relationships/slide" Target="slide3.xml"/><Relationship Id="rId12" Type="http://schemas.openxmlformats.org/officeDocument/2006/relationships/image" Target="../media/image6.png"/><Relationship Id="rId17" Type="http://schemas.openxmlformats.org/officeDocument/2006/relationships/image" Target="../media/image70.png"/><Relationship Id="rId2" Type="http://schemas.openxmlformats.org/officeDocument/2006/relationships/image" Target="../media/image2.png"/><Relationship Id="rId16" Type="http://schemas.openxmlformats.org/officeDocument/2006/relationships/slide" Target="slide6.xml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0.png"/><Relationship Id="rId5" Type="http://schemas.openxmlformats.org/officeDocument/2006/relationships/image" Target="../media/image30.png"/><Relationship Id="rId15" Type="http://schemas.openxmlformats.org/officeDocument/2006/relationships/image" Target="../media/image7.png"/><Relationship Id="rId23" Type="http://schemas.openxmlformats.org/officeDocument/2006/relationships/image" Target="../media/image90.png"/><Relationship Id="rId10" Type="http://schemas.openxmlformats.org/officeDocument/2006/relationships/slide" Target="slide4.xml"/><Relationship Id="rId19" Type="http://schemas.openxmlformats.org/officeDocument/2006/relationships/slide" Target="slide7.xml"/><Relationship Id="rId4" Type="http://schemas.openxmlformats.org/officeDocument/2006/relationships/slide" Target="slide2.xml"/><Relationship Id="rId9" Type="http://schemas.openxmlformats.org/officeDocument/2006/relationships/image" Target="../media/image5.png"/><Relationship Id="rId14" Type="http://schemas.openxmlformats.org/officeDocument/2006/relationships/image" Target="../media/image60.png"/><Relationship Id="rId22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4">
            <a:extLst>
              <a:ext uri="{FF2B5EF4-FFF2-40B4-BE49-F238E27FC236}">
                <a16:creationId xmlns:a16="http://schemas.microsoft.com/office/drawing/2014/main" id="{2EA4AC8D-D48B-2570-8979-D667E64F9D7B}"/>
              </a:ext>
            </a:extLst>
          </p:cNvPr>
          <p:cNvSpPr>
            <a:spLocks/>
          </p:cNvSpPr>
          <p:nvPr/>
        </p:nvSpPr>
        <p:spPr>
          <a:xfrm>
            <a:off x="10286973" y="0"/>
            <a:ext cx="1905024" cy="1911096"/>
          </a:xfrm>
          <a:custGeom>
            <a:avLst/>
            <a:gdLst>
              <a:gd name="csX0" fmla="*/ 24 w 1905024"/>
              <a:gd name="csY0" fmla="*/ 0 h 1911096"/>
              <a:gd name="csX1" fmla="*/ 1905024 w 1905024"/>
              <a:gd name="csY1" fmla="*/ 0 h 1911096"/>
              <a:gd name="csX2" fmla="*/ 1905024 w 1905024"/>
              <a:gd name="csY2" fmla="*/ 1911096 h 1911096"/>
              <a:gd name="csX3" fmla="*/ 1711352 w 1905024"/>
              <a:gd name="csY3" fmla="*/ 1841500 h 1911096"/>
              <a:gd name="csX4" fmla="*/ 76227 w 1905024"/>
              <a:gd name="csY4" fmla="*/ 171450 h 1911096"/>
              <a:gd name="csX5" fmla="*/ 24 w 1905024"/>
              <a:gd name="csY5" fmla="*/ 0 h 1911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05024" h="1911096">
                <a:moveTo>
                  <a:pt x="24" y="0"/>
                </a:moveTo>
                <a:lnTo>
                  <a:pt x="1905024" y="0"/>
                </a:lnTo>
                <a:lnTo>
                  <a:pt x="1905024" y="1911096"/>
                </a:lnTo>
                <a:cubicBezTo>
                  <a:pt x="1801308" y="1910122"/>
                  <a:pt x="1764268" y="1883749"/>
                  <a:pt x="1711352" y="1841500"/>
                </a:cubicBezTo>
                <a:cubicBezTo>
                  <a:pt x="1392794" y="1537272"/>
                  <a:pt x="367269" y="483129"/>
                  <a:pt x="76227" y="171450"/>
                </a:cubicBezTo>
                <a:cubicBezTo>
                  <a:pt x="32835" y="129646"/>
                  <a:pt x="-1034" y="100013"/>
                  <a:pt x="24" y="0"/>
                </a:cubicBezTo>
                <a:close/>
              </a:path>
            </a:pathLst>
          </a:custGeom>
          <a:blipFill dpi="0" rotWithShape="1">
            <a:blip r:embed="rId2"/>
            <a:srcRect/>
            <a:tile tx="381000" ty="0" sx="50000" sy="5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B0B0EE93-54B1-9AE7-42BA-80A949FB1D01}"/>
              </a:ext>
            </a:extLst>
          </p:cNvPr>
          <p:cNvSpPr>
            <a:spLocks/>
          </p:cNvSpPr>
          <p:nvPr/>
        </p:nvSpPr>
        <p:spPr>
          <a:xfrm flipH="1" flipV="1">
            <a:off x="0" y="4946904"/>
            <a:ext cx="1905024" cy="1911096"/>
          </a:xfrm>
          <a:custGeom>
            <a:avLst/>
            <a:gdLst>
              <a:gd name="csX0" fmla="*/ 24 w 1905024"/>
              <a:gd name="csY0" fmla="*/ 0 h 1911096"/>
              <a:gd name="csX1" fmla="*/ 1905024 w 1905024"/>
              <a:gd name="csY1" fmla="*/ 0 h 1911096"/>
              <a:gd name="csX2" fmla="*/ 1905024 w 1905024"/>
              <a:gd name="csY2" fmla="*/ 1911096 h 1911096"/>
              <a:gd name="csX3" fmla="*/ 1711352 w 1905024"/>
              <a:gd name="csY3" fmla="*/ 1841500 h 1911096"/>
              <a:gd name="csX4" fmla="*/ 76227 w 1905024"/>
              <a:gd name="csY4" fmla="*/ 171450 h 1911096"/>
              <a:gd name="csX5" fmla="*/ 24 w 1905024"/>
              <a:gd name="csY5" fmla="*/ 0 h 19110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905024" h="1911096">
                <a:moveTo>
                  <a:pt x="24" y="0"/>
                </a:moveTo>
                <a:lnTo>
                  <a:pt x="1905024" y="0"/>
                </a:lnTo>
                <a:lnTo>
                  <a:pt x="1905024" y="1911096"/>
                </a:lnTo>
                <a:cubicBezTo>
                  <a:pt x="1801308" y="1910122"/>
                  <a:pt x="1764268" y="1883749"/>
                  <a:pt x="1711352" y="1841500"/>
                </a:cubicBezTo>
                <a:cubicBezTo>
                  <a:pt x="1392794" y="1537272"/>
                  <a:pt x="367269" y="483129"/>
                  <a:pt x="76227" y="171450"/>
                </a:cubicBezTo>
                <a:cubicBezTo>
                  <a:pt x="32835" y="129646"/>
                  <a:pt x="-1034" y="100013"/>
                  <a:pt x="24" y="0"/>
                </a:cubicBezTo>
                <a:close/>
              </a:path>
            </a:pathLst>
          </a:custGeom>
          <a:blipFill dpi="0" rotWithShape="1">
            <a:blip r:embed="rId2"/>
            <a:srcRect/>
            <a:tile tx="381000" ty="0" sx="50000" sy="5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57B84-723B-45D4-B33E-9667C9C2571D}"/>
              </a:ext>
            </a:extLst>
          </p:cNvPr>
          <p:cNvSpPr>
            <a:spLocks/>
          </p:cNvSpPr>
          <p:nvPr/>
        </p:nvSpPr>
        <p:spPr>
          <a:xfrm>
            <a:off x="0" y="2159000"/>
            <a:ext cx="12192000" cy="1651000"/>
          </a:xfrm>
          <a:prstGeom prst="rect">
            <a:avLst/>
          </a:prstGeom>
          <a:blipFill dpi="0" rotWithShape="1">
            <a:blip r:embed="rId2"/>
            <a:srcRect/>
            <a:tile tx="0" ty="0" sx="50000" sy="5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987C8-CD02-5FED-4694-BB8DE766B3D6}"/>
              </a:ext>
            </a:extLst>
          </p:cNvPr>
          <p:cNvSpPr txBox="1"/>
          <p:nvPr/>
        </p:nvSpPr>
        <p:spPr>
          <a:xfrm>
            <a:off x="809999" y="2642615"/>
            <a:ext cx="10571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IN" sz="54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>
                  <a:outerShdw blurRad="50800" dir="14400000" algn="ctr" rotWithShape="0">
                    <a:prstClr val="black">
                      <a:alpha val="6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GitHub Actions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79E1E-9772-8B5A-3E75-A4C9EEBDD4F9}"/>
              </a:ext>
            </a:extLst>
          </p:cNvPr>
          <p:cNvSpPr txBox="1"/>
          <p:nvPr/>
        </p:nvSpPr>
        <p:spPr>
          <a:xfrm>
            <a:off x="7852228" y="5615057"/>
            <a:ext cx="4020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Name: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	Anirudh Sharma</a:t>
            </a:r>
            <a:br>
              <a:rPr lang="en-IN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r>
              <a:rPr lang="en-US" dirty="0">
                <a:solidFill>
                  <a:schemeClr val="tx1">
                    <a:lumMod val="75000"/>
                  </a:schemeClr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Roll No:</a:t>
            </a: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	MT2025732</a:t>
            </a:r>
            <a:br>
              <a:rPr lang="en-IN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dirty="0">
                <a:solidFill>
                  <a:schemeClr val="tx1">
                    <a:lumMod val="75000"/>
                  </a:schemeClr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Team:</a:t>
            </a: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	Team-4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543A45-4F4C-E334-B2B9-A05C345CA3AE}"/>
              </a:ext>
            </a:extLst>
          </p:cNvPr>
          <p:cNvGrpSpPr/>
          <p:nvPr/>
        </p:nvGrpSpPr>
        <p:grpSpPr>
          <a:xfrm>
            <a:off x="-1" y="3810000"/>
            <a:ext cx="12191997" cy="892184"/>
            <a:chOff x="-1" y="3814832"/>
            <a:chExt cx="10874646" cy="795783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6" name="Slide Zoom 5">
                  <a:extLst>
                    <a:ext uri="{FF2B5EF4-FFF2-40B4-BE49-F238E27FC236}">
                      <a16:creationId xmlns:a16="http://schemas.microsoft.com/office/drawing/2014/main" id="{9E29358A-68E7-4A66-3B1B-B7399CD5E1E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7878470"/>
                    </p:ext>
                  </p:extLst>
                </p:nvPr>
              </p:nvGraphicFramePr>
              <p:xfrm>
                <a:off x="-1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57" cId="3229770706">
                      <pslz:zmPr id="{11E65678-8300-4DF9-88AB-FF763C4BD386}" returnToParent="0" transitionDur="1000">
                        <p166:blipFill xmlns:p166="http://schemas.microsoft.com/office/powerpoint/2016/6/main">
                          <a:blip r:embed="rId3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6" name="Slide Zoom 5">
                  <a:hlinkClick r:id="rId4" action="ppaction://hlinksldjump"/>
                  <a:extLst>
                    <a:ext uri="{FF2B5EF4-FFF2-40B4-BE49-F238E27FC236}">
                      <a16:creationId xmlns:a16="http://schemas.microsoft.com/office/drawing/2014/main" id="{9E29358A-68E7-4A66-3B1B-B7399CD5E1E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-1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1" name="Slide Zoom 10">
                  <a:extLst>
                    <a:ext uri="{FF2B5EF4-FFF2-40B4-BE49-F238E27FC236}">
                      <a16:creationId xmlns:a16="http://schemas.microsoft.com/office/drawing/2014/main" id="{68DFD4CB-126C-5282-72B2-9A0D36C65D9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394650731"/>
                    </p:ext>
                  </p:extLst>
                </p:nvPr>
              </p:nvGraphicFramePr>
              <p:xfrm>
                <a:off x="1558627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74" cId="567227093">
                      <pslz:zmPr id="{0C1612D0-D446-4B5F-B888-6005CBE7C99D}" returnToParent="0" transitionDur="1000">
                        <p166:blipFill xmlns:p166="http://schemas.microsoft.com/office/powerpoint/2016/6/main">
                          <a:blip r:embed="rId6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1" name="Slide Zoom 10">
                  <a:hlinkClick r:id="rId7" action="ppaction://hlinksldjump"/>
                  <a:extLst>
                    <a:ext uri="{FF2B5EF4-FFF2-40B4-BE49-F238E27FC236}">
                      <a16:creationId xmlns:a16="http://schemas.microsoft.com/office/drawing/2014/main" id="{68DFD4CB-126C-5282-72B2-9A0D36C65D9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47439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3" name="Slide Zoom 12">
                  <a:extLst>
                    <a:ext uri="{FF2B5EF4-FFF2-40B4-BE49-F238E27FC236}">
                      <a16:creationId xmlns:a16="http://schemas.microsoft.com/office/drawing/2014/main" id="{F615295D-5EA0-F34E-45BA-CBD5F400290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250536700"/>
                    </p:ext>
                  </p:extLst>
                </p:nvPr>
              </p:nvGraphicFramePr>
              <p:xfrm>
                <a:off x="3108317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75" cId="261551208">
                      <pslz:zmPr id="{AE98708C-5D71-4FCF-B5AE-3F4CC970B84B}" returnToParent="0" transitionDur="1000">
                        <p166:blipFill xmlns:p166="http://schemas.microsoft.com/office/powerpoint/2016/6/main">
                          <a:blip r:embed="rId9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3" name="Slide Zoom 12">
                  <a:hlinkClick r:id="rId10" action="ppaction://hlinksldjump"/>
                  <a:extLst>
                    <a:ext uri="{FF2B5EF4-FFF2-40B4-BE49-F238E27FC236}">
                      <a16:creationId xmlns:a16="http://schemas.microsoft.com/office/drawing/2014/main" id="{F615295D-5EA0-F34E-45BA-CBD5F400290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84858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5" name="Slide Zoom 14">
                  <a:extLst>
                    <a:ext uri="{FF2B5EF4-FFF2-40B4-BE49-F238E27FC236}">
                      <a16:creationId xmlns:a16="http://schemas.microsoft.com/office/drawing/2014/main" id="{F02BB05E-67C4-5E58-AC65-3029E793F446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553611787"/>
                    </p:ext>
                  </p:extLst>
                </p:nvPr>
              </p:nvGraphicFramePr>
              <p:xfrm>
                <a:off x="4658008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76" cId="3441840404">
                      <pslz:zmPr id="{0BEAB98B-9A16-45DD-B8BA-49561B1609CF}" returnToParent="0" transitionDur="1000">
                        <p166:blipFill xmlns:p166="http://schemas.microsoft.com/office/powerpoint/2016/6/main">
                          <a:blip r:embed="rId12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5" name="Slide Zoom 14">
                  <a:hlinkClick r:id="rId13" action="ppaction://hlinksldjump"/>
                  <a:extLst>
                    <a:ext uri="{FF2B5EF4-FFF2-40B4-BE49-F238E27FC236}">
                      <a16:creationId xmlns:a16="http://schemas.microsoft.com/office/drawing/2014/main" id="{F02BB05E-67C4-5E58-AC65-3029E793F446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22278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7" name="Slide Zoom 16">
                  <a:extLst>
                    <a:ext uri="{FF2B5EF4-FFF2-40B4-BE49-F238E27FC236}">
                      <a16:creationId xmlns:a16="http://schemas.microsoft.com/office/drawing/2014/main" id="{18009869-1D3D-F8D8-D44C-9AF2BE08409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88180534"/>
                    </p:ext>
                  </p:extLst>
                </p:nvPr>
              </p:nvGraphicFramePr>
              <p:xfrm>
                <a:off x="6198761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77" cId="2919163127">
                      <pslz:zmPr id="{D3A77D19-EEF4-40F3-9A6A-4E0ADFF66DE5}" returnToParent="0" transitionDur="1000">
                        <p166:blipFill xmlns:p166="http://schemas.microsoft.com/office/powerpoint/2016/6/main">
                          <a:blip r:embed="rId15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7" name="Slide Zoom 16">
                  <a:hlinkClick r:id="rId16" action="ppaction://hlinksldjump"/>
                  <a:extLst>
                    <a:ext uri="{FF2B5EF4-FFF2-40B4-BE49-F238E27FC236}">
                      <a16:creationId xmlns:a16="http://schemas.microsoft.com/office/drawing/2014/main" id="{18009869-1D3D-F8D8-D44C-9AF2BE08409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49677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9" name="Slide Zoom 18">
                  <a:extLst>
                    <a:ext uri="{FF2B5EF4-FFF2-40B4-BE49-F238E27FC236}">
                      <a16:creationId xmlns:a16="http://schemas.microsoft.com/office/drawing/2014/main" id="{F7D88076-CE32-43E1-356B-D7D65F1E575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434165080"/>
                    </p:ext>
                  </p:extLst>
                </p:nvPr>
              </p:nvGraphicFramePr>
              <p:xfrm>
                <a:off x="7757389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79" cId="369639639">
                      <pslz:zmPr id="{4A3289A1-ADCC-420A-AC04-9ABE7110020D}" returnToParent="0" transitionDur="1000">
                        <p166:blipFill xmlns:p166="http://schemas.microsoft.com/office/powerpoint/2016/6/main">
                          <a:blip r:embed="rId18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9" name="Slide Zoom 18">
                  <a:hlinkClick r:id="rId19" action="ppaction://hlinksldjump"/>
                  <a:extLst>
                    <a:ext uri="{FF2B5EF4-FFF2-40B4-BE49-F238E27FC236}">
                      <a16:creationId xmlns:a16="http://schemas.microsoft.com/office/drawing/2014/main" id="{F7D88076-CE32-43E1-356B-D7D65F1E575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97117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21" name="Slide Zoom 20">
                  <a:extLst>
                    <a:ext uri="{FF2B5EF4-FFF2-40B4-BE49-F238E27FC236}">
                      <a16:creationId xmlns:a16="http://schemas.microsoft.com/office/drawing/2014/main" id="{5258451A-C35A-ADF9-CE4E-A4D48D0F2DE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12321636"/>
                    </p:ext>
                  </p:extLst>
                </p:nvPr>
              </p:nvGraphicFramePr>
              <p:xfrm>
                <a:off x="9316017" y="3814832"/>
                <a:ext cx="1558628" cy="795783"/>
              </p:xfrm>
              <a:graphic>
                <a:graphicData uri="http://schemas.microsoft.com/office/powerpoint/2016/slidezoom">
                  <pslz:sldZm>
                    <pslz:sldZmObj sldId="278" cId="825438781">
                      <pslz:zmPr id="{F40F9AF1-5991-46D5-9DA5-CCB2839440C7}" returnToParent="0" transitionDur="1000">
                        <p166:blipFill xmlns:p166="http://schemas.microsoft.com/office/powerpoint/2016/6/main">
                          <a:blip r:embed="rId21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7440" cy="892184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21" name="Slide Zoom 20">
                  <a:hlinkClick r:id="rId22" action="ppaction://hlinksldjump"/>
                  <a:extLst>
                    <a:ext uri="{FF2B5EF4-FFF2-40B4-BE49-F238E27FC236}">
                      <a16:creationId xmlns:a16="http://schemas.microsoft.com/office/drawing/2014/main" id="{5258451A-C35A-ADF9-CE4E-A4D48D0F2DE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44556" y="3810000"/>
                  <a:ext cx="1747440" cy="89218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885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7811DEF-CF58-D80C-E784-B26167E54209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8B2A8D-B4C5-EAE9-1D60-7861A5D2D867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3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4CC7AE-CB68-421E-900D-4E1B33A858F0}"/>
                </a:ext>
              </a:extLst>
            </p:cNvPr>
            <p:cNvSpPr txBox="1"/>
            <p:nvPr/>
          </p:nvSpPr>
          <p:spPr>
            <a:xfrm>
              <a:off x="810000" y="709752"/>
              <a:ext cx="10571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IN" sz="4000" b="1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What is GitHub Actions?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CC7A19A7-E4C9-62A8-F3C7-A3AD6F2A6A36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1EC644D-F5B3-08FD-6B35-268D1BC9411C}"/>
              </a:ext>
            </a:extLst>
          </p:cNvPr>
          <p:cNvSpPr/>
          <p:nvPr/>
        </p:nvSpPr>
        <p:spPr>
          <a:xfrm>
            <a:off x="809999" y="2222286"/>
            <a:ext cx="5515644" cy="3638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Event-Driven Automation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“Automate everything in your repositories</a:t>
            </a:r>
            <a:r>
              <a:rPr lang="en-US" sz="1600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  <a:t>!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  <a:endParaRPr lang="en-US" sz="1600" dirty="0"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latin typeface="Century Gothic" panose="020B050202020202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Why: Automate work and enforce consistency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Test and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Build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  <a:t>Package and Deploy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Schedule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Integrate</a:t>
            </a:r>
          </a:p>
        </p:txBody>
      </p:sp>
      <p:sp>
        <p:nvSpPr>
          <p:cNvPr id="40" name="Rectangle: Diagonal Corners Rounded 39">
            <a:extLst>
              <a:ext uri="{FF2B5EF4-FFF2-40B4-BE49-F238E27FC236}">
                <a16:creationId xmlns:a16="http://schemas.microsoft.com/office/drawing/2014/main" id="{FFFE4FBB-979E-29D1-FBEB-8D273AE5139A}"/>
              </a:ext>
            </a:extLst>
          </p:cNvPr>
          <p:cNvSpPr/>
          <p:nvPr/>
        </p:nvSpPr>
        <p:spPr>
          <a:xfrm>
            <a:off x="7941637" y="3431988"/>
            <a:ext cx="1464760" cy="533401"/>
          </a:xfrm>
          <a:prstGeom prst="round2DiagRect">
            <a:avLst/>
          </a:prstGeom>
          <a:noFill/>
          <a:ln w="38100">
            <a:solidFill>
              <a:srgbClr val="B45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Workflow</a:t>
            </a:r>
          </a:p>
        </p:txBody>
      </p:sp>
      <p:sp>
        <p:nvSpPr>
          <p:cNvPr id="42" name="Rectangle: Diagonal Corners Rounded 41">
            <a:extLst>
              <a:ext uri="{FF2B5EF4-FFF2-40B4-BE49-F238E27FC236}">
                <a16:creationId xmlns:a16="http://schemas.microsoft.com/office/drawing/2014/main" id="{F88884F8-55EE-DB49-0823-586AF8D78FBC}"/>
              </a:ext>
            </a:extLst>
          </p:cNvPr>
          <p:cNvSpPr/>
          <p:nvPr/>
        </p:nvSpPr>
        <p:spPr>
          <a:xfrm>
            <a:off x="7419976" y="2793752"/>
            <a:ext cx="1464760" cy="533401"/>
          </a:xfrm>
          <a:prstGeom prst="round2DiagRect">
            <a:avLst/>
          </a:prstGeom>
          <a:noFill/>
          <a:ln w="38100">
            <a:solidFill>
              <a:srgbClr val="DBA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Event</a:t>
            </a:r>
          </a:p>
        </p:txBody>
      </p:sp>
      <p:sp>
        <p:nvSpPr>
          <p:cNvPr id="44" name="Rectangle: Diagonal Corners Rounded 43">
            <a:extLst>
              <a:ext uri="{FF2B5EF4-FFF2-40B4-BE49-F238E27FC236}">
                <a16:creationId xmlns:a16="http://schemas.microsoft.com/office/drawing/2014/main" id="{E43BB38D-B8B2-E9E1-FEB5-28B9535C8B95}"/>
              </a:ext>
            </a:extLst>
          </p:cNvPr>
          <p:cNvSpPr/>
          <p:nvPr/>
        </p:nvSpPr>
        <p:spPr>
          <a:xfrm>
            <a:off x="8463297" y="4070225"/>
            <a:ext cx="1464760" cy="533401"/>
          </a:xfrm>
          <a:prstGeom prst="round2DiagRect">
            <a:avLst/>
          </a:prstGeom>
          <a:noFill/>
          <a:ln w="38100">
            <a:solidFill>
              <a:srgbClr val="446D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Jobs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5E1107D7-2A4B-4A19-AD4C-BAB8993D632A}"/>
              </a:ext>
            </a:extLst>
          </p:cNvPr>
          <p:cNvSpPr/>
          <p:nvPr/>
        </p:nvSpPr>
        <p:spPr>
          <a:xfrm>
            <a:off x="9506618" y="5346698"/>
            <a:ext cx="1464760" cy="533401"/>
          </a:xfrm>
          <a:prstGeom prst="round2DiagRect">
            <a:avLst/>
          </a:prstGeom>
          <a:noFill/>
          <a:ln w="38100">
            <a:solidFill>
              <a:srgbClr val="B450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Runner</a:t>
            </a: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089CA564-7EAF-3D88-790B-13D752D8C18E}"/>
              </a:ext>
            </a:extLst>
          </p:cNvPr>
          <p:cNvSpPr/>
          <p:nvPr/>
        </p:nvSpPr>
        <p:spPr>
          <a:xfrm>
            <a:off x="8984957" y="4708462"/>
            <a:ext cx="1464760" cy="533401"/>
          </a:xfrm>
          <a:prstGeom prst="round2DiagRect">
            <a:avLst/>
          </a:prstGeom>
          <a:noFill/>
          <a:ln w="38100">
            <a:solidFill>
              <a:srgbClr val="DBA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Steps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CB25FF0-9930-2015-1540-E62524C9E661}"/>
              </a:ext>
            </a:extLst>
          </p:cNvPr>
          <p:cNvCxnSpPr>
            <a:cxnSpLocks/>
            <a:endCxn id="40" idx="2"/>
          </p:cNvCxnSpPr>
          <p:nvPr/>
        </p:nvCxnSpPr>
        <p:spPr>
          <a:xfrm rot="16200000" flipH="1">
            <a:off x="7595050" y="3352102"/>
            <a:ext cx="371536" cy="321637"/>
          </a:xfrm>
          <a:prstGeom prst="bentConnector2">
            <a:avLst/>
          </a:prstGeom>
          <a:ln w="38100">
            <a:solidFill>
              <a:srgbClr val="DBAD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3842AEF-2411-C0BC-C018-49E63DCF7DD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60032" y="5266812"/>
            <a:ext cx="371536" cy="321637"/>
          </a:xfrm>
          <a:prstGeom prst="bentConnector2">
            <a:avLst/>
          </a:prstGeom>
          <a:ln w="38100">
            <a:solidFill>
              <a:srgbClr val="DBAD6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A07B43D-B7FE-75FB-6B42-B2433A87C0F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16711" y="3990339"/>
            <a:ext cx="371536" cy="321637"/>
          </a:xfrm>
          <a:prstGeom prst="bentConnector2">
            <a:avLst/>
          </a:prstGeom>
          <a:ln w="38100">
            <a:solidFill>
              <a:srgbClr val="B450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7C5B916-6B7F-52CD-FBAF-3948FC188BB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38371" y="4628576"/>
            <a:ext cx="371536" cy="321637"/>
          </a:xfrm>
          <a:prstGeom prst="bentConnector2">
            <a:avLst/>
          </a:prstGeom>
          <a:ln w="38100">
            <a:solidFill>
              <a:srgbClr val="446D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77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003DCE-300D-7D9C-1ADF-1CD902E9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BBA878D-56A8-FFDF-7719-74FE02602563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174343-E235-D061-C7FE-CAD269AF8B66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2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0FCEDB-119D-7862-497B-20BA92BCD7C0}"/>
                </a:ext>
              </a:extLst>
            </p:cNvPr>
            <p:cNvSpPr txBox="1"/>
            <p:nvPr/>
          </p:nvSpPr>
          <p:spPr>
            <a:xfrm>
              <a:off x="810000" y="709752"/>
              <a:ext cx="10571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IN" sz="4000" b="1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Example 1 - </a:t>
              </a:r>
              <a:r>
                <a:rPr kumimoji="0" lang="en-IN" sz="4000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Simple Echo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0AC0C3E-D8A7-1BEC-A56B-CAE4564F177E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3A28940-A99B-9679-85B9-8738215620EC}"/>
              </a:ext>
            </a:extLst>
          </p:cNvPr>
          <p:cNvSpPr/>
          <p:nvPr/>
        </p:nvSpPr>
        <p:spPr>
          <a:xfrm>
            <a:off x="809999" y="2222286"/>
            <a:ext cx="5185873" cy="36387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Demo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jobs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runs-on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ubuntu-latest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Say hello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|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echo "Hello from GitHub Actions!"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Show commit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|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echo "Commit: ${{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github.sha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}}"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defRPr/>
            </a:pPr>
            <a:endParaRPr lang="en-IN" sz="1400" dirty="0"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latin typeface="Century Gothic" panose="020B05020202020202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487AE-3FE6-8533-A39B-AB7FA9CA1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030" y="2544647"/>
            <a:ext cx="4328995" cy="3332753"/>
          </a:xfrm>
          <a:prstGeom prst="rect">
            <a:avLst/>
          </a:prstGeom>
        </p:spPr>
      </p:pic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67C25066-6AF4-9C02-D3F6-3B71C4F2AC5F}"/>
              </a:ext>
            </a:extLst>
          </p:cNvPr>
          <p:cNvSpPr/>
          <p:nvPr/>
        </p:nvSpPr>
        <p:spPr>
          <a:xfrm>
            <a:off x="6539030" y="2544647"/>
            <a:ext cx="4328995" cy="3338431"/>
          </a:xfrm>
          <a:prstGeom prst="round2DiagRect">
            <a:avLst>
              <a:gd name="adj1" fmla="val 2901"/>
              <a:gd name="adj2" fmla="val 0"/>
            </a:avLst>
          </a:prstGeom>
          <a:noFill/>
          <a:ln w="38100">
            <a:solidFill>
              <a:srgbClr val="02C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6722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2E63E4F-5433-258B-DB40-BB038B8CB91D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B4D7FA5-10D6-E154-4EF4-E50E8030568B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2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9917E52-3689-1B0D-08A3-6E58DAD61EC7}"/>
                </a:ext>
              </a:extLst>
            </p:cNvPr>
            <p:cNvSpPr txBox="1"/>
            <p:nvPr/>
          </p:nvSpPr>
          <p:spPr>
            <a:xfrm>
              <a:off x="810000" y="709752"/>
              <a:ext cx="10571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IN" sz="4000" b="1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Example 2 - </a:t>
              </a:r>
              <a:r>
                <a:rPr kumimoji="0" lang="en-IN" sz="4000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Run tests and build</a:t>
              </a:r>
            </a:p>
          </p:txBody>
        </p:sp>
        <p:sp>
          <p:nvSpPr>
            <p:cNvPr id="25" name="Isosceles Triangle 13">
              <a:extLst>
                <a:ext uri="{FF2B5EF4-FFF2-40B4-BE49-F238E27FC236}">
                  <a16:creationId xmlns:a16="http://schemas.microsoft.com/office/drawing/2014/main" id="{7B7F2FD4-660C-7DD2-9B83-E3B4D4680A2F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9FAC047-199C-D830-0FC8-73E766661B6F}"/>
              </a:ext>
            </a:extLst>
          </p:cNvPr>
          <p:cNvSpPr/>
          <p:nvPr/>
        </p:nvSpPr>
        <p:spPr>
          <a:xfrm>
            <a:off x="809999" y="2222286"/>
            <a:ext cx="5185873" cy="4397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Continuous Integration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jobs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runs-on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ubuntu-latest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actions/checkout@v4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actions/setup-node@v4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node-version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Clean Install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ci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Run Tests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test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Run Build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run build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C344F0B-56B4-45E5-6CAD-CF7C2BB4A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205" y="2273049"/>
            <a:ext cx="4392397" cy="3971982"/>
          </a:xfrm>
          <a:prstGeom prst="rect">
            <a:avLst/>
          </a:prstGeom>
        </p:spPr>
      </p:pic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FDBCA42D-2389-BBA5-F0D3-BB32C6E0B52E}"/>
              </a:ext>
            </a:extLst>
          </p:cNvPr>
          <p:cNvSpPr/>
          <p:nvPr/>
        </p:nvSpPr>
        <p:spPr>
          <a:xfrm>
            <a:off x="6415205" y="2273048"/>
            <a:ext cx="4392397" cy="3971982"/>
          </a:xfrm>
          <a:prstGeom prst="round2DiagRect">
            <a:avLst>
              <a:gd name="adj1" fmla="val 2901"/>
              <a:gd name="adj2" fmla="val 0"/>
            </a:avLst>
          </a:prstGeom>
          <a:noFill/>
          <a:ln w="38100">
            <a:solidFill>
              <a:srgbClr val="02C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155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5BB6-819B-7FD6-D92D-5822A778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B681593-8066-2A7F-166D-FF1770F3E612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1D3BC7-364E-B31C-9E4C-B24C6A76CE2E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2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109A4A-9D63-8E54-5427-5C2DCE14920C}"/>
                </a:ext>
              </a:extLst>
            </p:cNvPr>
            <p:cNvSpPr txBox="1"/>
            <p:nvPr/>
          </p:nvSpPr>
          <p:spPr>
            <a:xfrm>
              <a:off x="810000" y="709752"/>
              <a:ext cx="10571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IN" sz="4000" b="1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Example 3 - </a:t>
              </a:r>
              <a:r>
                <a:rPr kumimoji="0" lang="en-IN" sz="4000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Matrix Execution</a:t>
              </a:r>
            </a:p>
          </p:txBody>
        </p:sp>
        <p:sp>
          <p:nvSpPr>
            <p:cNvPr id="12" name="Isosceles Triangle 13">
              <a:extLst>
                <a:ext uri="{FF2B5EF4-FFF2-40B4-BE49-F238E27FC236}">
                  <a16:creationId xmlns:a16="http://schemas.microsoft.com/office/drawing/2014/main" id="{BFEDF127-C06C-B8F5-7949-7EFCEE29D1FF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0DDD676-16D8-D214-FEDB-7D113CA8C8A2}"/>
              </a:ext>
            </a:extLst>
          </p:cNvPr>
          <p:cNvSpPr/>
          <p:nvPr/>
        </p:nvSpPr>
        <p:spPr>
          <a:xfrm>
            <a:off x="809999" y="2222286"/>
            <a:ext cx="5185873" cy="45118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Matrix Configuration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jobs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run-tests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strategy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runs-on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ubuntu-latest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actions/checkout@v4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actions/setup-node@v4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node-version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${{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matrix.node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}}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Clean Install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ci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Run Tests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test -- --run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9FC588-DC34-B022-7CE1-EE065F2D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80" y="3001847"/>
            <a:ext cx="5814895" cy="2648515"/>
          </a:xfrm>
          <a:prstGeom prst="rect">
            <a:avLst/>
          </a:prstGeom>
        </p:spPr>
      </p:pic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58FDD20B-1D29-8EC3-0B47-6820A09C0229}"/>
              </a:ext>
            </a:extLst>
          </p:cNvPr>
          <p:cNvSpPr/>
          <p:nvPr/>
        </p:nvSpPr>
        <p:spPr>
          <a:xfrm>
            <a:off x="5872279" y="3001847"/>
            <a:ext cx="5814895" cy="2648515"/>
          </a:xfrm>
          <a:prstGeom prst="round2DiagRect">
            <a:avLst>
              <a:gd name="adj1" fmla="val 2901"/>
              <a:gd name="adj2" fmla="val 0"/>
            </a:avLst>
          </a:prstGeom>
          <a:noFill/>
          <a:ln w="38100">
            <a:solidFill>
              <a:srgbClr val="02C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4184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97977-7790-5EE3-F9AD-EB05F712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0194923-92F8-C862-769E-885C5ECD4A55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94DF93-0DC9-6C5F-E4A9-48BD2EBBFB3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2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C33EBF-2DE6-396F-797C-756F24091E40}"/>
                </a:ext>
              </a:extLst>
            </p:cNvPr>
            <p:cNvSpPr txBox="1"/>
            <p:nvPr/>
          </p:nvSpPr>
          <p:spPr>
            <a:xfrm>
              <a:off x="810000" y="709752"/>
              <a:ext cx="105719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IN" sz="4000" b="1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Example 4 - </a:t>
              </a:r>
              <a:r>
                <a:rPr kumimoji="0" lang="en-IN" sz="4000" i="0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Continuous Deployment</a:t>
              </a:r>
            </a:p>
          </p:txBody>
        </p:sp>
        <p:sp>
          <p:nvSpPr>
            <p:cNvPr id="11" name="Isosceles Triangle 13">
              <a:extLst>
                <a:ext uri="{FF2B5EF4-FFF2-40B4-BE49-F238E27FC236}">
                  <a16:creationId xmlns:a16="http://schemas.microsoft.com/office/drawing/2014/main" id="{DB19D510-BCBB-AA48-8BE1-FF3EC6977D49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73E449-3B91-D74B-68BA-D9365E3EF432}"/>
              </a:ext>
            </a:extLst>
          </p:cNvPr>
          <p:cNvGrpSpPr/>
          <p:nvPr/>
        </p:nvGrpSpPr>
        <p:grpSpPr>
          <a:xfrm>
            <a:off x="142969" y="2222285"/>
            <a:ext cx="11906062" cy="3638764"/>
            <a:chOff x="590925" y="2222285"/>
            <a:chExt cx="11906062" cy="363876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E5EF4A-ABEA-A4CE-D180-DDF0DF42D5CD}"/>
                </a:ext>
              </a:extLst>
            </p:cNvPr>
            <p:cNvSpPr/>
            <p:nvPr/>
          </p:nvSpPr>
          <p:spPr>
            <a:xfrm>
              <a:off x="590925" y="2222286"/>
              <a:ext cx="2742825" cy="3638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Build and Deploy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endPara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on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push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branches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[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main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 err="1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workflow_dispatch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endPara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permissions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contents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read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pages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write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id-token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write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endPara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concurrency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group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"pages"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cancel-in-progress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</a:p>
            <a:p>
              <a:pPr>
                <a:lnSpc>
                  <a:spcPct val="113095"/>
                </a:lnSpc>
                <a:buNone/>
              </a:pPr>
              <a:endParaRPr lang="en-IN" sz="1400" dirty="0">
                <a:solidFill>
                  <a:srgbClr val="569CD6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</a:pPr>
              <a:r>
                <a:rPr lang="en-IN" sz="1400" dirty="0">
                  <a:solidFill>
                    <a:srgbClr val="7EE787"/>
                  </a:solidFill>
                  <a:latin typeface="Consolas" panose="020B0609020204030204" pitchFamily="49" charset="0"/>
                </a:rPr>
                <a:t>jobs</a:t>
              </a:r>
              <a:r>
                <a:rPr lang="en-IN" sz="1400" dirty="0">
                  <a:solidFill>
                    <a:srgbClr val="BBBEBF"/>
                  </a:solidFill>
                  <a:latin typeface="Consolas" panose="020B0609020204030204" pitchFamily="49" charset="0"/>
                </a:rPr>
                <a:t>: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1A0533-B0E8-89B2-B8B3-2A95E82C383E}"/>
                </a:ext>
              </a:extLst>
            </p:cNvPr>
            <p:cNvSpPr/>
            <p:nvPr/>
          </p:nvSpPr>
          <p:spPr>
            <a:xfrm>
              <a:off x="3333750" y="2222285"/>
              <a:ext cx="4524375" cy="3638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build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runs-on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ubuntu-latest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steps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uses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actions/checkout@v4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uses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actions/setup-node@v4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with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node-version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22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cache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npm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run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npm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 ci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run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npm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 test -- --run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run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npm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 run build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uses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actions/configure-pages@v5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uses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actions/upload-pages-artifact@v3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with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path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./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dist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74C7DC5-B2D3-5D26-930D-138266FAFDC0}"/>
                </a:ext>
              </a:extLst>
            </p:cNvPr>
            <p:cNvSpPr/>
            <p:nvPr/>
          </p:nvSpPr>
          <p:spPr>
            <a:xfrm>
              <a:off x="7467600" y="2222285"/>
              <a:ext cx="5029387" cy="36387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deploy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needs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build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runs-on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ubuntu-latest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environment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name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github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-pages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${{ </a:t>
              </a:r>
              <a:r>
                <a:rPr lang="en-IN" sz="1400" b="0" dirty="0" err="1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steps.deployment.outputs.page_url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 }}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steps</a:t>
              </a: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-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deployment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13095"/>
                </a:lnSpc>
                <a:buNone/>
              </a:pPr>
              <a:r>
                <a:rPr lang="en-IN" sz="1400" b="0" dirty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IN" sz="1400" b="0" dirty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uses</a:t>
              </a:r>
              <a:r>
                <a:rPr lang="en-IN" sz="1400" b="0" dirty="0">
                  <a:solidFill>
                    <a:srgbClr val="C9D1D9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IN" sz="1400" b="0" dirty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actions/deploy-pages@v4</a:t>
              </a:r>
              <a:endPara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9EF5140-0711-4202-FD18-55EF52C3F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234" y="5143498"/>
            <a:ext cx="4594797" cy="1211411"/>
          </a:xfrm>
          <a:prstGeom prst="rect">
            <a:avLst/>
          </a:prstGeom>
        </p:spPr>
      </p:pic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22BD8460-65A7-640D-7C07-2CCAAF3BDB5C}"/>
              </a:ext>
            </a:extLst>
          </p:cNvPr>
          <p:cNvSpPr/>
          <p:nvPr/>
        </p:nvSpPr>
        <p:spPr>
          <a:xfrm>
            <a:off x="7454236" y="5143500"/>
            <a:ext cx="4594795" cy="1211410"/>
          </a:xfrm>
          <a:prstGeom prst="round2DiagRect">
            <a:avLst>
              <a:gd name="adj1" fmla="val 2901"/>
              <a:gd name="adj2" fmla="val 0"/>
            </a:avLst>
          </a:prstGeom>
          <a:noFill/>
          <a:ln w="38100">
            <a:solidFill>
              <a:srgbClr val="02C0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1916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3EE5-CF3D-E062-4155-53D86049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0D41406-3B7A-95A6-B5B1-750DBC4A7759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A2E04A-E016-8923-D0AB-19B950AFDD35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2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Isosceles Triangle 13">
              <a:extLst>
                <a:ext uri="{FF2B5EF4-FFF2-40B4-BE49-F238E27FC236}">
                  <a16:creationId xmlns:a16="http://schemas.microsoft.com/office/drawing/2014/main" id="{F3C06053-3381-0EA3-EAC5-141A325832A3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A202A76-88D1-B0E3-94BA-AE83014AEA69}"/>
              </a:ext>
            </a:extLst>
          </p:cNvPr>
          <p:cNvSpPr txBox="1"/>
          <p:nvPr/>
        </p:nvSpPr>
        <p:spPr>
          <a:xfrm>
            <a:off x="810000" y="709752"/>
            <a:ext cx="10571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EFEFE"/>
                </a:solidFill>
                <a:effectLst>
                  <a:outerShdw blurRad="50800" dir="14400000" algn="ctr" rotWithShape="0">
                    <a:prstClr val="black">
                      <a:alpha val="60000"/>
                    </a:prstClr>
                  </a:outerShdw>
                </a:effectLst>
              </a:rPr>
              <a:t>Scheduling Jobs using Cron Expressions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92258F-C019-B23B-1815-BE38804A5360}"/>
              </a:ext>
            </a:extLst>
          </p:cNvPr>
          <p:cNvSpPr/>
          <p:nvPr/>
        </p:nvSpPr>
        <p:spPr>
          <a:xfrm>
            <a:off x="809999" y="2460411"/>
            <a:ext cx="5515644" cy="39259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Automation without Events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“Automation that runs without a code change”</a:t>
            </a:r>
            <a:endParaRPr lang="en-US" sz="1600" dirty="0"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latin typeface="Century Gothic" panose="020B050202020202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Run workflows on a schedule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SzTx/>
              <a:buFont typeface="Wingdings 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Also supports manual runs with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n-ea"/>
                <a:cs typeface="+mn-cs"/>
              </a:rPr>
              <a:t>workflow_dispatch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defRPr/>
            </a:pP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Useful for: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Nightly Checks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Generating Reports</a:t>
            </a:r>
          </a:p>
          <a:p>
            <a:pPr marL="285750" lvl="0" indent="-285750">
              <a:spcBef>
                <a:spcPct val="20000"/>
              </a:spcBef>
              <a:spcAft>
                <a:spcPts val="600"/>
              </a:spcAft>
              <a:buClr>
                <a:srgbClr val="00C6BB"/>
              </a:buClr>
              <a:buFont typeface="Courier New" panose="02070309020205020404" pitchFamily="49" charset="0"/>
              <a:buChar char="o"/>
              <a:defRPr/>
            </a:pPr>
            <a:r>
              <a:rPr lang="en-US" dirty="0">
                <a:solidFill>
                  <a:prstClr val="white"/>
                </a:solidFill>
                <a:effectLst>
                  <a:outerShdw blurRad="50800" dir="14400000" algn="ctr" rotWithShape="0">
                    <a:prstClr val="black">
                      <a:alpha val="40000"/>
                    </a:prstClr>
                  </a:outerShdw>
                </a:effectLst>
              </a:rPr>
              <a:t>Maintenance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r="14400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03873A-9C49-0E34-7838-B94F7D63DE2C}"/>
              </a:ext>
            </a:extLst>
          </p:cNvPr>
          <p:cNvSpPr/>
          <p:nvPr/>
        </p:nvSpPr>
        <p:spPr>
          <a:xfrm>
            <a:off x="6601868" y="2273048"/>
            <a:ext cx="5185873" cy="3777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schedule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 err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cron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'0 8 * * 1-5'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workflow_dispatch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jobs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run-task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runs-on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ubuntu-latest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steps</a:t>
            </a: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-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Run Script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IN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: |</a:t>
            </a:r>
          </a:p>
          <a:p>
            <a:pPr>
              <a:lnSpc>
                <a:spcPct val="113095"/>
              </a:lnSpc>
              <a:buNone/>
            </a:pPr>
            <a:r>
              <a:rPr lang="en-IN" sz="1400" dirty="0">
                <a:solidFill>
                  <a:srgbClr val="C9D1D9"/>
                </a:solidFill>
                <a:latin typeface="Consolas" panose="020B0609020204030204" pitchFamily="49" charset="0"/>
              </a:rPr>
              <a:t>	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echo "Hello World!"</a:t>
            </a:r>
          </a:p>
          <a:p>
            <a:pPr>
              <a:lnSpc>
                <a:spcPct val="113095"/>
              </a:lnSpc>
              <a:buNone/>
            </a:pPr>
            <a:r>
              <a:rPr lang="en-IN" sz="1400" dirty="0">
                <a:solidFill>
                  <a:srgbClr val="A5D6FF"/>
                </a:solidFill>
                <a:latin typeface="Consolas" panose="020B0609020204030204" pitchFamily="49" charset="0"/>
              </a:rPr>
              <a:t>	echo "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Triggered by ${{ </a:t>
            </a:r>
            <a:r>
              <a:rPr lang="en-IN" sz="14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github.event_name</a:t>
            </a:r>
            <a:r>
              <a:rPr lang="en-IN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}}"</a:t>
            </a:r>
            <a:endParaRPr lang="en-IN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3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938C-6CEA-4A23-EAC7-AD2D374C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A7384CE-3110-DD27-DDB9-30059E078A6F}"/>
              </a:ext>
            </a:extLst>
          </p:cNvPr>
          <p:cNvGrpSpPr/>
          <p:nvPr/>
        </p:nvGrpSpPr>
        <p:grpSpPr>
          <a:xfrm>
            <a:off x="0" y="0"/>
            <a:ext cx="12192000" cy="2273047"/>
            <a:chOff x="0" y="0"/>
            <a:chExt cx="12192000" cy="227304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A87648-6509-6A20-8794-AFB368C8A15C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12192000" cy="1911096"/>
            </a:xfrm>
            <a:prstGeom prst="rect">
              <a:avLst/>
            </a:prstGeom>
            <a:blipFill dpi="0" rotWithShape="1">
              <a:blip r:embed="rId2"/>
              <a:srcRect/>
              <a:tile tx="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Isosceles Triangle 13">
              <a:extLst>
                <a:ext uri="{FF2B5EF4-FFF2-40B4-BE49-F238E27FC236}">
                  <a16:creationId xmlns:a16="http://schemas.microsoft.com/office/drawing/2014/main" id="{0DABFE8B-F441-CF8D-506E-51C16D7C1E26}"/>
                </a:ext>
              </a:extLst>
            </p:cNvPr>
            <p:cNvSpPr/>
            <p:nvPr/>
          </p:nvSpPr>
          <p:spPr>
            <a:xfrm rot="10800000">
              <a:off x="1940605" y="1911096"/>
              <a:ext cx="914400" cy="361951"/>
            </a:xfrm>
            <a:custGeom>
              <a:avLst/>
              <a:gdLst>
                <a:gd name="csX0" fmla="*/ 0 w 2066544"/>
                <a:gd name="csY0" fmla="*/ 1276351 h 1276351"/>
                <a:gd name="csX1" fmla="*/ 786384 w 2066544"/>
                <a:gd name="csY1" fmla="*/ 197359 h 1276351"/>
                <a:gd name="csX2" fmla="*/ 1026922 w 2066544"/>
                <a:gd name="csY2" fmla="*/ 1 h 1276351"/>
                <a:gd name="csX3" fmla="*/ 1259459 w 2066544"/>
                <a:gd name="csY3" fmla="*/ 198121 h 1276351"/>
                <a:gd name="csX4" fmla="*/ 2066544 w 2066544"/>
                <a:gd name="csY4" fmla="*/ 1276351 h 1276351"/>
                <a:gd name="csX5" fmla="*/ 0 w 2066544"/>
                <a:gd name="csY5" fmla="*/ 1276351 h 1276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066544" h="1276351">
                  <a:moveTo>
                    <a:pt x="0" y="1276351"/>
                  </a:moveTo>
                  <a:lnTo>
                    <a:pt x="786384" y="197359"/>
                  </a:lnTo>
                  <a:cubicBezTo>
                    <a:pt x="866521" y="89409"/>
                    <a:pt x="903626" y="-126"/>
                    <a:pt x="1026922" y="1"/>
                  </a:cubicBezTo>
                  <a:cubicBezTo>
                    <a:pt x="1150218" y="128"/>
                    <a:pt x="1185672" y="99696"/>
                    <a:pt x="1259459" y="198121"/>
                  </a:cubicBezTo>
                  <a:lnTo>
                    <a:pt x="2066544" y="1276351"/>
                  </a:lnTo>
                  <a:lnTo>
                    <a:pt x="0" y="1276351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184150" ty="36195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C22EFD-1691-9546-3E75-173B782222A9}"/>
              </a:ext>
            </a:extLst>
          </p:cNvPr>
          <p:cNvSpPr txBox="1"/>
          <p:nvPr/>
        </p:nvSpPr>
        <p:spPr>
          <a:xfrm>
            <a:off x="810000" y="709752"/>
            <a:ext cx="105719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EFEFE"/>
                </a:solidFill>
                <a:effectLst>
                  <a:outerShdw blurRad="50800" dir="14400000" algn="ctr" rotWithShape="0">
                    <a:prstClr val="black">
                      <a:alpha val="60000"/>
                    </a:prstClr>
                  </a:outerShdw>
                </a:effectLst>
              </a:rPr>
              <a:t>Advanced Production Features</a:t>
            </a:r>
          </a:p>
          <a:p>
            <a:endParaRPr lang="en-IN" sz="4000" b="1" dirty="0">
              <a:solidFill>
                <a:srgbClr val="FEFEFE"/>
              </a:solidFill>
              <a:effectLst>
                <a:outerShdw blurRad="50800" dir="14400000" algn="ctr" rotWithShape="0">
                  <a:prstClr val="black">
                    <a:alpha val="60000"/>
                  </a:prstClr>
                </a:outerShdw>
              </a:effectLst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19B989-5436-EB09-D94F-9C53B998AC6E}"/>
              </a:ext>
            </a:extLst>
          </p:cNvPr>
          <p:cNvGrpSpPr/>
          <p:nvPr/>
        </p:nvGrpSpPr>
        <p:grpSpPr>
          <a:xfrm>
            <a:off x="1680385" y="2940990"/>
            <a:ext cx="8831230" cy="2650185"/>
            <a:chOff x="1350995" y="2940990"/>
            <a:chExt cx="8831230" cy="2650185"/>
          </a:xfrm>
        </p:grpSpPr>
        <p:sp>
          <p:nvSpPr>
            <p:cNvPr id="32" name="Rectangle: Diagonal Corners Rounded 31">
              <a:extLst>
                <a:ext uri="{FF2B5EF4-FFF2-40B4-BE49-F238E27FC236}">
                  <a16:creationId xmlns:a16="http://schemas.microsoft.com/office/drawing/2014/main" id="{D716F41E-C346-FC56-1DBF-2E88DB9967DA}"/>
                </a:ext>
              </a:extLst>
            </p:cNvPr>
            <p:cNvSpPr/>
            <p:nvPr/>
          </p:nvSpPr>
          <p:spPr>
            <a:xfrm>
              <a:off x="1350995" y="2940990"/>
              <a:ext cx="2777199" cy="1146470"/>
            </a:xfrm>
            <a:prstGeom prst="round2DiagRect">
              <a:avLst/>
            </a:prstGeom>
            <a:noFill/>
            <a:ln w="38100">
              <a:solidFill>
                <a:srgbClr val="DBA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Secrets</a:t>
              </a:r>
            </a:p>
            <a:p>
              <a:pPr algn="ctr"/>
              <a:r>
                <a:rPr lang="en-IN" sz="1400" dirty="0"/>
                <a:t>Credentials &amp; sensitive configuration</a:t>
              </a:r>
            </a:p>
          </p:txBody>
        </p:sp>
        <p:sp>
          <p:nvSpPr>
            <p:cNvPr id="33" name="Rectangle: Diagonal Corners Rounded 32">
              <a:extLst>
                <a:ext uri="{FF2B5EF4-FFF2-40B4-BE49-F238E27FC236}">
                  <a16:creationId xmlns:a16="http://schemas.microsoft.com/office/drawing/2014/main" id="{B6E295F6-C428-026A-0484-5C540DDD6909}"/>
                </a:ext>
              </a:extLst>
            </p:cNvPr>
            <p:cNvSpPr/>
            <p:nvPr/>
          </p:nvSpPr>
          <p:spPr>
            <a:xfrm>
              <a:off x="4378011" y="2940990"/>
              <a:ext cx="2777199" cy="1146470"/>
            </a:xfrm>
            <a:prstGeom prst="round2DiagRect">
              <a:avLst/>
            </a:prstGeom>
            <a:noFill/>
            <a:ln w="38100">
              <a:solidFill>
                <a:srgbClr val="B450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Environments</a:t>
              </a:r>
            </a:p>
            <a:p>
              <a:pPr algn="ctr"/>
              <a:r>
                <a:rPr lang="en-IN" sz="1400" dirty="0"/>
                <a:t>Staging / production + approvals</a:t>
              </a:r>
            </a:p>
          </p:txBody>
        </p:sp>
        <p:sp>
          <p:nvSpPr>
            <p:cNvPr id="45" name="Rectangle: Diagonal Corners Rounded 44">
              <a:extLst>
                <a:ext uri="{FF2B5EF4-FFF2-40B4-BE49-F238E27FC236}">
                  <a16:creationId xmlns:a16="http://schemas.microsoft.com/office/drawing/2014/main" id="{E9CF0A13-251D-A3EC-80A3-DFE85579464B}"/>
                </a:ext>
              </a:extLst>
            </p:cNvPr>
            <p:cNvSpPr/>
            <p:nvPr/>
          </p:nvSpPr>
          <p:spPr>
            <a:xfrm>
              <a:off x="7405027" y="2940990"/>
              <a:ext cx="2777198" cy="1146470"/>
            </a:xfrm>
            <a:prstGeom prst="round2DiagRect">
              <a:avLst/>
            </a:prstGeom>
            <a:noFill/>
            <a:ln w="38100">
              <a:solidFill>
                <a:srgbClr val="446D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Artifacts</a:t>
              </a:r>
            </a:p>
            <a:p>
              <a:pPr algn="ctr"/>
              <a:r>
                <a:rPr lang="en-US" sz="1400" dirty="0"/>
                <a:t>Build outputs shared between jobs</a:t>
              </a:r>
            </a:p>
          </p:txBody>
        </p:sp>
        <p:sp>
          <p:nvSpPr>
            <p:cNvPr id="47" name="Rectangle: Diagonal Corners Rounded 46">
              <a:extLst>
                <a:ext uri="{FF2B5EF4-FFF2-40B4-BE49-F238E27FC236}">
                  <a16:creationId xmlns:a16="http://schemas.microsoft.com/office/drawing/2014/main" id="{AC401B77-6E0E-AE8F-39D3-4EF18B0F21F4}"/>
                </a:ext>
              </a:extLst>
            </p:cNvPr>
            <p:cNvSpPr/>
            <p:nvPr/>
          </p:nvSpPr>
          <p:spPr>
            <a:xfrm>
              <a:off x="1350995" y="4444705"/>
              <a:ext cx="2777199" cy="1146470"/>
            </a:xfrm>
            <a:prstGeom prst="round2DiagRect">
              <a:avLst/>
            </a:prstGeom>
            <a:noFill/>
            <a:ln w="38100">
              <a:solidFill>
                <a:srgbClr val="B450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Caching</a:t>
              </a:r>
            </a:p>
            <a:p>
              <a:pPr algn="ctr"/>
              <a:r>
                <a:rPr lang="en-US" sz="1400" dirty="0"/>
                <a:t>Faster dependency and build workflows</a:t>
              </a:r>
            </a:p>
          </p:txBody>
        </p:sp>
        <p:sp>
          <p:nvSpPr>
            <p:cNvPr id="49" name="Rectangle: Diagonal Corners Rounded 48">
              <a:extLst>
                <a:ext uri="{FF2B5EF4-FFF2-40B4-BE49-F238E27FC236}">
                  <a16:creationId xmlns:a16="http://schemas.microsoft.com/office/drawing/2014/main" id="{ED8B57EF-075E-CC9A-048F-D8A30F7ECCF2}"/>
                </a:ext>
              </a:extLst>
            </p:cNvPr>
            <p:cNvSpPr/>
            <p:nvPr/>
          </p:nvSpPr>
          <p:spPr>
            <a:xfrm>
              <a:off x="4378011" y="4444705"/>
              <a:ext cx="2777198" cy="1146470"/>
            </a:xfrm>
            <a:prstGeom prst="round2DiagRect">
              <a:avLst/>
            </a:prstGeom>
            <a:noFill/>
            <a:ln w="38100">
              <a:solidFill>
                <a:srgbClr val="446D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Reusable workflows</a:t>
              </a:r>
            </a:p>
            <a:p>
              <a:pPr algn="ctr"/>
              <a:r>
                <a:rPr lang="en-US" sz="1400" dirty="0"/>
                <a:t>Standardize automation across repositories</a:t>
              </a:r>
            </a:p>
          </p:txBody>
        </p:sp>
        <p:sp>
          <p:nvSpPr>
            <p:cNvPr id="51" name="Rectangle: Diagonal Corners Rounded 50">
              <a:extLst>
                <a:ext uri="{FF2B5EF4-FFF2-40B4-BE49-F238E27FC236}">
                  <a16:creationId xmlns:a16="http://schemas.microsoft.com/office/drawing/2014/main" id="{2DFC0252-3772-E565-89D3-DFF62969B195}"/>
                </a:ext>
              </a:extLst>
            </p:cNvPr>
            <p:cNvSpPr/>
            <p:nvPr/>
          </p:nvSpPr>
          <p:spPr>
            <a:xfrm>
              <a:off x="7405026" y="4444703"/>
              <a:ext cx="2777199" cy="1146470"/>
            </a:xfrm>
            <a:prstGeom prst="round2DiagRect">
              <a:avLst/>
            </a:prstGeom>
            <a:noFill/>
            <a:ln w="38100">
              <a:solidFill>
                <a:srgbClr val="DBAD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Self-hosted runners</a:t>
              </a:r>
            </a:p>
            <a:p>
              <a:pPr algn="ctr"/>
              <a:r>
                <a:rPr lang="en-US" sz="1400" dirty="0"/>
                <a:t>Run jobs on your own infrastructure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25438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00CA2-A2CE-5E55-44AE-4F547163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07D9323-37ED-A276-5318-97FFAC7310BA}"/>
              </a:ext>
            </a:extLst>
          </p:cNvPr>
          <p:cNvGrpSpPr/>
          <p:nvPr/>
        </p:nvGrpSpPr>
        <p:grpSpPr>
          <a:xfrm>
            <a:off x="0" y="0"/>
            <a:ext cx="12191997" cy="6858000"/>
            <a:chOff x="0" y="0"/>
            <a:chExt cx="12191997" cy="6858000"/>
          </a:xfrm>
        </p:grpSpPr>
        <p:sp>
          <p:nvSpPr>
            <p:cNvPr id="8" name="Rectangle 14">
              <a:extLst>
                <a:ext uri="{FF2B5EF4-FFF2-40B4-BE49-F238E27FC236}">
                  <a16:creationId xmlns:a16="http://schemas.microsoft.com/office/drawing/2014/main" id="{64B81626-FACE-3E9A-3709-CF145B0DD447}"/>
                </a:ext>
              </a:extLst>
            </p:cNvPr>
            <p:cNvSpPr>
              <a:spLocks/>
            </p:cNvSpPr>
            <p:nvPr/>
          </p:nvSpPr>
          <p:spPr>
            <a:xfrm>
              <a:off x="10286973" y="0"/>
              <a:ext cx="1905024" cy="1911096"/>
            </a:xfrm>
            <a:custGeom>
              <a:avLst/>
              <a:gdLst>
                <a:gd name="csX0" fmla="*/ 24 w 1905024"/>
                <a:gd name="csY0" fmla="*/ 0 h 1911096"/>
                <a:gd name="csX1" fmla="*/ 1905024 w 1905024"/>
                <a:gd name="csY1" fmla="*/ 0 h 1911096"/>
                <a:gd name="csX2" fmla="*/ 1905024 w 1905024"/>
                <a:gd name="csY2" fmla="*/ 1911096 h 1911096"/>
                <a:gd name="csX3" fmla="*/ 1711352 w 1905024"/>
                <a:gd name="csY3" fmla="*/ 1841500 h 1911096"/>
                <a:gd name="csX4" fmla="*/ 76227 w 1905024"/>
                <a:gd name="csY4" fmla="*/ 171450 h 1911096"/>
                <a:gd name="csX5" fmla="*/ 24 w 1905024"/>
                <a:gd name="csY5" fmla="*/ 0 h 191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905024" h="1911096">
                  <a:moveTo>
                    <a:pt x="24" y="0"/>
                  </a:moveTo>
                  <a:lnTo>
                    <a:pt x="1905024" y="0"/>
                  </a:lnTo>
                  <a:lnTo>
                    <a:pt x="1905024" y="1911096"/>
                  </a:lnTo>
                  <a:cubicBezTo>
                    <a:pt x="1801308" y="1910122"/>
                    <a:pt x="1764268" y="1883749"/>
                    <a:pt x="1711352" y="1841500"/>
                  </a:cubicBezTo>
                  <a:cubicBezTo>
                    <a:pt x="1392794" y="1537272"/>
                    <a:pt x="367269" y="483129"/>
                    <a:pt x="76227" y="171450"/>
                  </a:cubicBezTo>
                  <a:cubicBezTo>
                    <a:pt x="32835" y="129646"/>
                    <a:pt x="-1034" y="100013"/>
                    <a:pt x="24" y="0"/>
                  </a:cubicBezTo>
                  <a:close/>
                </a:path>
              </a:pathLst>
            </a:custGeom>
            <a:blipFill dpi="0" rotWithShape="1">
              <a:blip r:embed="rId2"/>
              <a:srcRect/>
              <a:tile tx="38100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D4CA633B-7943-2B7F-FF59-E4412B5E8034}"/>
                </a:ext>
              </a:extLst>
            </p:cNvPr>
            <p:cNvSpPr>
              <a:spLocks/>
            </p:cNvSpPr>
            <p:nvPr/>
          </p:nvSpPr>
          <p:spPr>
            <a:xfrm flipH="1" flipV="1">
              <a:off x="0" y="4946904"/>
              <a:ext cx="1905024" cy="1911096"/>
            </a:xfrm>
            <a:custGeom>
              <a:avLst/>
              <a:gdLst>
                <a:gd name="csX0" fmla="*/ 24 w 1905024"/>
                <a:gd name="csY0" fmla="*/ 0 h 1911096"/>
                <a:gd name="csX1" fmla="*/ 1905024 w 1905024"/>
                <a:gd name="csY1" fmla="*/ 0 h 1911096"/>
                <a:gd name="csX2" fmla="*/ 1905024 w 1905024"/>
                <a:gd name="csY2" fmla="*/ 1911096 h 1911096"/>
                <a:gd name="csX3" fmla="*/ 1711352 w 1905024"/>
                <a:gd name="csY3" fmla="*/ 1841500 h 1911096"/>
                <a:gd name="csX4" fmla="*/ 76227 w 1905024"/>
                <a:gd name="csY4" fmla="*/ 171450 h 1911096"/>
                <a:gd name="csX5" fmla="*/ 24 w 1905024"/>
                <a:gd name="csY5" fmla="*/ 0 h 1911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905024" h="1911096">
                  <a:moveTo>
                    <a:pt x="24" y="0"/>
                  </a:moveTo>
                  <a:lnTo>
                    <a:pt x="1905024" y="0"/>
                  </a:lnTo>
                  <a:lnTo>
                    <a:pt x="1905024" y="1911096"/>
                  </a:lnTo>
                  <a:cubicBezTo>
                    <a:pt x="1801308" y="1910122"/>
                    <a:pt x="1764268" y="1883749"/>
                    <a:pt x="1711352" y="1841500"/>
                  </a:cubicBezTo>
                  <a:cubicBezTo>
                    <a:pt x="1392794" y="1537272"/>
                    <a:pt x="367269" y="483129"/>
                    <a:pt x="76227" y="171450"/>
                  </a:cubicBezTo>
                  <a:cubicBezTo>
                    <a:pt x="32835" y="129646"/>
                    <a:pt x="-1034" y="100013"/>
                    <a:pt x="24" y="0"/>
                  </a:cubicBezTo>
                  <a:close/>
                </a:path>
              </a:pathLst>
            </a:custGeom>
            <a:blipFill dpi="0" rotWithShape="1">
              <a:blip r:embed="rId2"/>
              <a:srcRect/>
              <a:tile tx="381000" ty="0" sx="50000" sy="5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0D9C68-090A-244E-E6B0-D01D08B76D35}"/>
                </a:ext>
              </a:extLst>
            </p:cNvPr>
            <p:cNvSpPr txBox="1"/>
            <p:nvPr/>
          </p:nvSpPr>
          <p:spPr>
            <a:xfrm>
              <a:off x="810001" y="3075057"/>
              <a:ext cx="1057199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0" lang="en-IN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>
                    <a:outerShdw blurRad="50800" dir="14400000" algn="ctr" rotWithShape="0">
                      <a:prstClr val="black">
                        <a:alpha val="6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j-ea"/>
                  <a:cs typeface="+mj-cs"/>
                </a:rPr>
                <a:t>Thank You</a:t>
              </a:r>
              <a:endParaRPr lang="en-IN" sz="2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0226A4-AA4E-7D5E-E1F1-2B217BD1A902}"/>
                </a:ext>
              </a:extLst>
            </p:cNvPr>
            <p:cNvSpPr txBox="1"/>
            <p:nvPr/>
          </p:nvSpPr>
          <p:spPr>
            <a:xfrm>
              <a:off x="7852228" y="5615057"/>
              <a:ext cx="402045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20000"/>
                </a:spcBef>
                <a:spcAft>
                  <a:spcPts val="600"/>
                </a:spcAft>
                <a:buClr>
                  <a:srgbClr val="00C6BB"/>
                </a:buClr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</a:schemeClr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Name: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	Anirudh Sharma</a:t>
              </a:r>
              <a:br>
                <a:rPr lang="en-IN" dirty="0">
                  <a:solidFill>
                    <a:prstClr val="white"/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  <a:latin typeface="Century Gothic" panose="020B0502020202020204"/>
                </a:rPr>
              </a:br>
              <a:r>
                <a:rPr lang="en-US" dirty="0">
                  <a:solidFill>
                    <a:schemeClr val="tx1">
                      <a:lumMod val="75000"/>
                    </a:schemeClr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</a:rPr>
                <a:t>Roll No:</a:t>
              </a:r>
              <a:r>
                <a:rPr lang="en-US" dirty="0">
                  <a:solidFill>
                    <a:prstClr val="white"/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</a:rPr>
                <a:t>	MT2025732</a:t>
              </a:r>
              <a:br>
                <a:rPr lang="en-IN" dirty="0">
                  <a:solidFill>
                    <a:prstClr val="white"/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dirty="0">
                  <a:solidFill>
                    <a:schemeClr val="tx1">
                      <a:lumMod val="75000"/>
                    </a:schemeClr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</a:rPr>
                <a:t>Team:</a:t>
              </a:r>
              <a:r>
                <a:rPr lang="en-US" dirty="0">
                  <a:solidFill>
                    <a:prstClr val="white"/>
                  </a:solidFill>
                  <a:effectLst>
                    <a:outerShdw blurRad="50800" dir="14400000" algn="ctr" rotWithShape="0">
                      <a:prstClr val="black">
                        <a:alpha val="40000"/>
                      </a:prstClr>
                    </a:outerShdw>
                  </a:effectLst>
                </a:rPr>
                <a:t>	Team-4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590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{200EB2B4-2AA6-491A-8454-29CDCF65D7BB}TF422d6a94-b412-4b4b-8b36-ccdb9da8dac8d8130915_win32-3b4bd71c511d</Template>
  <TotalTime>744</TotalTime>
  <Words>640</Words>
  <Application>Microsoft Office PowerPoint</Application>
  <PresentationFormat>Widescreen</PresentationFormat>
  <Paragraphs>151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Century Gothic</vt:lpstr>
      <vt:lpstr>Consolas</vt:lpstr>
      <vt:lpstr>Courier New</vt:lpstr>
      <vt:lpstr>Wingdings 2</vt:lpstr>
      <vt:lpstr>Quotable_win32_v2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Minecraftian14 .</dc:creator>
  <cp:lastModifiedBy>Minecraftian14 .</cp:lastModifiedBy>
  <cp:revision>25</cp:revision>
  <dcterms:created xsi:type="dcterms:W3CDTF">2026-09-02T11:57:04Z</dcterms:created>
  <dcterms:modified xsi:type="dcterms:W3CDTF">2026-09-20T12:34:08Z</dcterms:modified>
</cp:coreProperties>
</file>